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</a:t>
            </a:r>
          </a:p>
          <a:p>
            <a:pPr>
              <a:spcAft>
                <a:spcPts val="2000"/>
              </a:spcAft>
              <a:defRPr sz="4600" b="1">
                <a:solidFill>
                  <a:srgbClr val="FFFFFF"/>
                </a:solidFill>
                <a:latin typeface="Trebuchet MS"/>
              </a:defRPr>
            </a:pPr>
            <a:r>
              <a:t>Modern Digital File Archiving &amp; Management System</a:t>
            </a:r>
          </a:p>
          <a:p>
            <a:pPr>
              <a:defRPr sz="1800">
                <a:solidFill>
                  <a:srgbClr val="CBD5E1"/>
                </a:solidFill>
                <a:latin typeface="Calibri"/>
              </a:defRPr>
            </a:pPr>
            <a:r>
              <a:t>A secure, instant record retrieval platform to eliminate search delays, attach file scans directly, and secure sensitive passport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Trebuchet MS"/>
              </a:defRPr>
            </a:pPr>
            <a:r>
              <a:t>DEVELOPED FOR SENIOR MANAGEMENT  |  ICS HEADQUARTERS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950A"/>
                </a:solidFill>
                <a:latin typeface="Trebuchet MS"/>
              </a:defRPr>
            </a:pPr>
            <a:r>
              <a:t>ICS FILE MANAGEMENT SYSTEM  |  SECURE DIGITAL ARCHIVING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 PROPOSAL</a:t>
            </a:r>
          </a:p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The Core Archival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Trebuchet MS"/>
              </a:defRPr>
            </a:pPr>
            <a:r>
              <a:t>Our current manual paper archive system causes customer wait times and security risks.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C2626"/>
                </a:solidFill>
                <a:latin typeface="Trebuchet MS"/>
              </a:defRPr>
            </a:pPr>
            <a:r>
              <a:t>[OPERATIONAL PAIN POINT]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1. Lost File Search Delay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Staff must walk to physical rooms and dig through boxes. This takes from 30 minutes to several days per file, slowing down national passport and visa issuance.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C2626"/>
                </a:solidFill>
                <a:latin typeface="Trebuchet MS"/>
              </a:defRPr>
            </a:pPr>
            <a:r>
              <a:t>[DATA ORGANIZATION PAIN POINT]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2. Loose Physical Scans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Digital scans are saved in scattered folders on different PCs. Finding a customer's scan is disconnected from their registration records, leading to document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29184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C2626"/>
                </a:solidFill>
                <a:latin typeface="Trebuchet MS"/>
              </a:defRPr>
            </a:pPr>
            <a:r>
              <a:t>[SECURITY PAIN POINT]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3. Security &amp; Audit Gaps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Sensitive national records (Eritrean IDs, Travel Documents) lack scoped permissions. Without user logs, supervisors cannot audit who opened or edited a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A192F"/>
                </a:solidFill>
                <a:latin typeface="Trebuchet MS"/>
              </a:defRPr>
            </a:pPr>
            <a:r>
              <a:t>ICS FILE MANAGEMENT SYSTEM  |  SECURE DIGITAL ARCHIVING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 PROPOSAL</a:t>
            </a:r>
          </a:p>
          <a:p>
            <a:pPr>
              <a:defRPr sz="3200" b="1">
                <a:solidFill>
                  <a:srgbClr val="0A192F"/>
                </a:solidFill>
                <a:latin typeface="Trebuchet MS"/>
              </a:defRPr>
            </a:pPr>
            <a:r>
              <a:t>Centralized Digital FMS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Trebuchet MS"/>
              </a:defRPr>
            </a:pPr>
            <a:r>
              <a:t>FMS resolves physical search friction and locks down file permissions securely.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Trebuchet MS"/>
              </a:defRPr>
            </a:pPr>
            <a:r>
              <a:t>[SOLUTION 1]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Instant Digital Query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Allows indexing by Name, Passport Number, Box Number, or Request Number. Retrieve any applicant file location on screen in under 3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Trebuchet MS"/>
              </a:defRPr>
            </a:pPr>
            <a:r>
              <a:t>[SOLUTION 2]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Direct File Attachments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Multi-page application PDFs or image scans attach directly to the digital record. Officers view files on their screens instantly — no physical archive trips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Trebuchet MS"/>
              </a:defRPr>
            </a:pPr>
            <a:r>
              <a:t>[SOLUTION 3]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Interactive Dashboards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Presents analytics on total entries, department tallies, and scanning compliance. One-click buttons instantly print official reports with formal ICS headers.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A192F"/>
                </a:solidFill>
                <a:latin typeface="Trebuchet MS"/>
              </a:defRPr>
            </a:pPr>
            <a:r>
              <a:t>ICS FILE MANAGEMENT SYSTEM  |  SECURE DIGITAL ARCHIVING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 PROPOSAL</a:t>
            </a:r>
          </a:p>
          <a:p>
            <a:pPr>
              <a:defRPr sz="3200" b="1">
                <a:solidFill>
                  <a:srgbClr val="0A192F"/>
                </a:solidFill>
                <a:latin typeface="Trebuchet MS"/>
              </a:defRPr>
            </a:pPr>
            <a:r>
              <a:t>How it Works: Instant 3-Step Retrieval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[01]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Step 1: Input Details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Archivist inputs basic customer information (Name, Passport No, Box No) and uploads multi-file document scans directly into the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[02]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Step 2: Digital Archiving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The system indexes all entries, links attachments, and updates department analytics. Data is saved locally in a secure browser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[03]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Step 3: Immediate Search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An authorized supervisor or officer searches the passport number. The record, box location, and PDF scan display on the screen instantly.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1755867227400"/>
            <a:ext cx="640080" cy="640080"/>
          </a:xfrm>
          <a:prstGeom prst="ellipse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663440" y="1755867227400"/>
            <a:ext cx="640080" cy="640080"/>
          </a:xfrm>
          <a:prstGeom prst="ellipse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755867227400"/>
            <a:ext cx="640080" cy="640080"/>
          </a:xfrm>
          <a:prstGeom prst="ellipse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60520" y="3657600"/>
            <a:ext cx="274320" cy="182880"/>
          </a:xfrm>
          <a:prstGeom prst="rightArrow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818120" y="3657600"/>
            <a:ext cx="274320" cy="182880"/>
          </a:xfrm>
          <a:prstGeom prst="rightArrow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950A"/>
                </a:solidFill>
                <a:latin typeface="Trebuchet MS"/>
              </a:defRPr>
            </a:pPr>
            <a:r>
              <a:t>ICS FILE MANAGEMENT SYSTEM  |  SECURE DIGITAL ARCHIVING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 PROPOSAL</a:t>
            </a:r>
          </a:p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Role-Based Data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Trebuchet MS"/>
              </a:defRPr>
            </a:pPr>
            <a:r>
              <a:t>Ensures data confidentiality. Officers only view the departments they are assigned to work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0312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[SYSTEM ADMIN]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1. Administrator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Manages officer system logins, seeds departments, imports database backups, and reviews system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20240"/>
            <a:ext cx="246888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10312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[DIVISION CONTROL]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2. Supervisor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Has full access to all 8 file divisions. Generates and prints analytics reports. Exports Excel-ready CSV lists.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920240"/>
            <a:ext cx="246888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210312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[DATA ENTRY]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3. Officer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Performs record entry and edits. Strictly restricted to assigned modules (e.g. VISA officer cannot open Alien Passports).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920240"/>
            <a:ext cx="246888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103120"/>
            <a:ext cx="210312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[READ-ONLY]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4. Viewer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Has read-only search and lookup capabilities. Opens document scans but cannot edit database entries.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A192F"/>
                </a:solidFill>
                <a:latin typeface="Trebuchet MS"/>
              </a:defRPr>
            </a:pPr>
            <a:r>
              <a:t>ICS FILE MANAGEMENT SYSTEM  |  SECURE DIGITAL ARCHIVING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 PROPOSAL</a:t>
            </a:r>
          </a:p>
          <a:p>
            <a:pPr>
              <a:defRPr sz="3200" b="1">
                <a:solidFill>
                  <a:srgbClr val="0A192F"/>
                </a:solidFill>
                <a:latin typeface="Trebuchet MS"/>
              </a:defRPr>
            </a:pPr>
            <a:r>
              <a:t>Operational Impact &amp; Strategic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Trebuchet MS"/>
              </a:defRPr>
            </a:pPr>
            <a:r>
              <a:t>A low-cost, high-performance system designed for immediate operational improvements.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D4950A"/>
                </a:solidFill>
                <a:latin typeface="Trebuchet MS"/>
              </a:defRPr>
            </a:pPr>
            <a:r>
              <a:t>99%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Faster Processing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Retrieving files drops from an average of 30 minutes to under 3 seconds. Dramatically cuts down citizen wait times and queues.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D4950A"/>
                </a:solidFill>
                <a:latin typeface="Trebuchet MS"/>
              </a:defRPr>
            </a:pPr>
            <a:r>
              <a:t>$0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Infrastructure Costs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Leverages local HTML5 IndexedDB storage. Works completely offline inside the browser. No expensive database server licenses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D4950A"/>
                </a:solidFill>
                <a:latin typeface="Trebuchet MS"/>
              </a:defRPr>
            </a:pPr>
            <a:r>
              <a:t>100%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Auditing Compliance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Real-time compliance checks reveal which records lack scan attachments. Empowers supervisors to immediately audit department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D4950A"/>
                </a:solidFill>
                <a:latin typeface="Trebuchet MS"/>
              </a:defRPr>
            </a:pPr>
            <a:r>
              <a:t>ICS DIGITAL TRANSFORMATION ROADMAP</a:t>
            </a:r>
          </a:p>
          <a:p>
            <a:pPr>
              <a:spcAft>
                <a:spcPts val="2400"/>
              </a:spcAft>
              <a:defRPr sz="3800" b="1">
                <a:solidFill>
                  <a:srgbClr val="FFFFFF"/>
                </a:solidFill>
                <a:latin typeface="Trebuchet MS"/>
              </a:defRPr>
            </a:pPr>
            <a:r>
              <a:t>Proposed Implementation Schedule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Week 1: Setup local FMS system on PCs, seed officer logins, and set role permissions.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Week 2: Retroactively register active archive box numbers and upload index backlogs.</a:t>
            </a:r>
          </a:p>
          <a:p>
            <a:pPr>
              <a:spcAft>
                <a:spcPts val="2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Week 3: Staff training, rollout of queries, and commencement of digital-first operations.</a:t>
            </a:r>
          </a:p>
          <a:p>
            <a:pPr>
              <a:defRPr sz="1800" b="1">
                <a:solidFill>
                  <a:srgbClr val="D4950A"/>
                </a:solidFill>
                <a:latin typeface="Trebuchet MS"/>
              </a:defRPr>
            </a:pPr>
            <a:r>
              <a:t>We kindly request project implementation approval from the CEO of 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