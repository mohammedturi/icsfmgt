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4950A"/>
                </a:solidFill>
                <a:latin typeface="Outfit"/>
              </a:defRPr>
            </a:pPr>
            <a:r>
              <a:t>IMMIGRATION &amp; CITIZENSHIP SERVICE (ICS)</a:t>
            </a:r>
          </a:p>
          <a:p>
            <a:pPr>
              <a:spcAft>
                <a:spcPts val="1600"/>
              </a:spcAft>
              <a:defRPr sz="4400" b="1">
                <a:solidFill>
                  <a:srgbClr val="FFFFFF"/>
                </a:solidFill>
                <a:latin typeface="Outfit"/>
              </a:defRPr>
            </a:pPr>
            <a:r>
              <a:t>Digital File Archiving &amp; Management System</a:t>
            </a:r>
          </a:p>
          <a:p>
            <a:pPr>
              <a:defRPr sz="1600">
                <a:solidFill>
                  <a:srgbClr val="CBD5E1"/>
                </a:solidFill>
                <a:latin typeface="Outfit"/>
              </a:defRPr>
            </a:pPr>
            <a:r>
              <a:t>A secure, offline-resilient digital system to catalog box locations, index applicant files, and retrieve high-resolution record scans in milliseconds.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Outfit"/>
              </a:defRPr>
            </a:pPr>
            <a:r>
              <a:t>Executive Proposal for Project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Outfit"/>
              </a:defRPr>
            </a:pPr>
            <a:r>
              <a:t>ICS FILE MANAGEMENT SYSTEM</a:t>
            </a:r>
          </a:p>
          <a:p>
            <a:pPr>
              <a:defRPr sz="2800" b="1">
                <a:solidFill>
                  <a:srgbClr val="0F2B5C"/>
                </a:solidFill>
                <a:latin typeface="Outfit"/>
              </a:defRPr>
            </a:pPr>
            <a:r>
              <a:t>The Current Archival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Outfit"/>
              </a:defRPr>
            </a:pPr>
            <a:r>
              <a:t>Our current paper-based archiving processes create structural bottlenecks across departments.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  <a:latin typeface="Outfit"/>
              </a:defRPr>
            </a:pPr>
            <a:r>
              <a:t>OPERATIONAL BOTTLENECK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Slow Retrieval Times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Searching files requires officers to walk down to physical archives, dig through boxes, and locate paper folders. This takes anywhere from 30 minutes to days, delaying citizen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  <a:latin typeface="Outfit"/>
              </a:defRPr>
            </a:pPr>
            <a:r>
              <a:t>INFORMATION VULNERABILITY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Tracking &amp; Security Risks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No centralized index exists to link file requests to physical BOX numbers. Document loss, duplication, and unauthorized file viewing represent serious information security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DC2626"/>
                </a:solidFill>
                <a:latin typeface="Outfit"/>
              </a:defRPr>
            </a:pPr>
            <a:r>
              <a:t>COMPLIANCE GAP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No Reporting or Auditing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Management lacks visibility on which records lack scan attachments, how many files are registered per division daily, and who has accessed sensitive category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Outfit"/>
              </a:defRPr>
            </a:pPr>
            <a:r>
              <a:t>ICS FILE MANAGEMENT SYSTEM</a:t>
            </a:r>
          </a:p>
          <a:p>
            <a:pPr>
              <a:defRPr sz="2800" b="1">
                <a:solidFill>
                  <a:srgbClr val="0F2B5C"/>
                </a:solidFill>
                <a:latin typeface="Outfit"/>
              </a:defRPr>
            </a:pPr>
            <a:r>
              <a:t>The Digital File Management System (FMS)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Outfit"/>
              </a:defRPr>
            </a:pPr>
            <a:r>
              <a:t>A lightweight, secure local software designed specifically for ICS divisions to retrieve records instantly.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59669"/>
                </a:solidFill>
                <a:latin typeface="Outfit"/>
              </a:defRPr>
            </a:pPr>
            <a:r>
              <a:t>INSTANT QUERY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Instant Metadata Search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Officers query by Full Name, Passport number, Request number, or BOX number. The software searches the database and returns matching locations in under 3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59669"/>
                </a:solidFill>
                <a:latin typeface="Outfit"/>
              </a:defRPr>
            </a:pPr>
            <a:r>
              <a:t>PAPERLESS ARCHIVAL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Digital Scan Attachments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Allows multi-file uploads (images or PDFs) attached directly to the records. Officers open and view the digital scan on their screens, preventing physical retrieval trips.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59669"/>
                </a:solidFill>
                <a:latin typeface="Outfit"/>
              </a:defRPr>
            </a:pPr>
            <a:r>
              <a:t>EXECUTIVE CONTROLS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Real-time Analytics Panel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Dynamic reports showing record counts, scanning rates, and audit logs. Built-in print engines generate clean report lists with formal ICS letterheads in one click.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Outfit"/>
              </a:defRPr>
            </a:pPr>
            <a:r>
              <a:t>ICS FILE MANAGEMENT SYSTEM</a:t>
            </a:r>
          </a:p>
          <a:p>
            <a:pPr>
              <a:defRPr sz="2800" b="1">
                <a:solidFill>
                  <a:srgbClr val="0F2B5C"/>
                </a:solidFill>
                <a:latin typeface="Outfit"/>
              </a:defRPr>
            </a:pPr>
            <a:r>
              <a:t>How it Works: Simple 3-Step Retrieval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329184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D4ED8"/>
                </a:solidFill>
                <a:latin typeface="Outfit"/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1. Input &amp; Upload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The archivist keys in applicant details (Name, Passport, Box Number) and attaches scans of original records in a single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03120"/>
            <a:ext cx="329184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D4ED8"/>
                </a:solidFill>
                <a:latin typeface="Outfit"/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2. Dynamic Indexing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The local system indexes the fields, creates the database record, and links it securely. Data is stored completely locally and is accessible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1D4ED8"/>
                </a:solidFill>
                <a:latin typeface="Outfit"/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3. Millisecond Lookup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An authorized officer inputs the passport or box number in the search bar. The matching file and all scan attachments display instantly.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60520" y="3474720"/>
            <a:ext cx="274320" cy="182880"/>
          </a:xfrm>
          <a:prstGeom prst="rightArrow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818120" y="3474720"/>
            <a:ext cx="274320" cy="182880"/>
          </a:xfrm>
          <a:prstGeom prst="rightArrow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Outfit"/>
              </a:defRPr>
            </a:pPr>
            <a:r>
              <a:t>ICS FILE MANAGEMENT SYSTEM</a:t>
            </a:r>
          </a:p>
          <a:p>
            <a:pPr>
              <a:defRPr sz="2800" b="1">
                <a:solidFill>
                  <a:srgbClr val="0F2B5C"/>
                </a:solidFill>
                <a:latin typeface="Outfit"/>
              </a:defRPr>
            </a:pPr>
            <a:r>
              <a:t>Advanced Access Control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Outfit"/>
              </a:defRPr>
            </a:pPr>
            <a:r>
              <a:t>Strict user roles prevent unauthorized access to sensitive files across our 8 departments.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F2B5C"/>
                </a:solidFill>
                <a:latin typeface="Outfit"/>
              </a:defRPr>
            </a:pPr>
            <a:r>
              <a:t>ROLE 1: ADMIN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Administrator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Controls user creation, sets department roles, exports encrypted database backups, and reviews audit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4688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9456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F2B5C"/>
                </a:solidFill>
                <a:latin typeface="Outfit"/>
              </a:defRPr>
            </a:pPr>
            <a:r>
              <a:t>ROLE 2: SUPERVISOR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Supervisor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Accesses all 8 divisions, generates executive analytical reports, exports compiled lists, and prints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24688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F2B5C"/>
                </a:solidFill>
                <a:latin typeface="Outfit"/>
              </a:defRPr>
            </a:pPr>
            <a:r>
              <a:t>ROLE 3: OFFICER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Officer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Adds and edits records. Strictly locked to assigned departments only (e.g. VISA officer cannot see Eritrean IDs).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11680"/>
            <a:ext cx="24688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194560"/>
            <a:ext cx="2103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0F2B5C"/>
                </a:solidFill>
                <a:latin typeface="Outfit"/>
              </a:defRPr>
            </a:pPr>
            <a:r>
              <a:t>ROLE 4: VIEWER</a:t>
            </a:r>
          </a:p>
          <a:p>
            <a:pPr>
              <a:spcAft>
                <a:spcPts val="800"/>
              </a:spcAft>
              <a:defRPr sz="1600" b="1">
                <a:solidFill>
                  <a:srgbClr val="0F2B5C"/>
                </a:solidFill>
                <a:latin typeface="Outfit"/>
              </a:defRPr>
            </a:pPr>
            <a:r>
              <a:t>Viewer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Read-only query access. Can search and open record details for assigned divisions but cannot edit or add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Outfit"/>
              </a:defRPr>
            </a:pPr>
            <a:r>
              <a:t>ICS FILE MANAGEMENT SYSTEM</a:t>
            </a:r>
          </a:p>
          <a:p>
            <a:pPr>
              <a:defRPr sz="2800" b="1">
                <a:solidFill>
                  <a:srgbClr val="0F2B5C"/>
                </a:solidFill>
                <a:latin typeface="Outfit"/>
              </a:defRPr>
            </a:pPr>
            <a:r>
              <a:t>Operational Impact &amp; Strategic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Outfit"/>
              </a:defRPr>
            </a:pPr>
            <a:r>
              <a:t>The implementation delivers immediate tangible benefits for agency operations and cost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D4950A"/>
                </a:solidFill>
                <a:latin typeface="Outfit"/>
              </a:defRPr>
            </a:pPr>
            <a:r>
              <a:t>99%</a:t>
            </a:r>
          </a:p>
          <a:p>
            <a:pPr>
              <a:spcAft>
                <a:spcPts val="1000"/>
              </a:spcAft>
              <a:defRPr sz="1800" b="1">
                <a:solidFill>
                  <a:srgbClr val="0F2B5C"/>
                </a:solidFill>
                <a:latin typeface="Outfit"/>
              </a:defRPr>
            </a:pPr>
            <a:r>
              <a:t>Search Time Reduced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Retrieval drops from an average of 30 minutes of physical archival search to less than 3 seconds. Enhances staff output and citizen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D4950A"/>
                </a:solidFill>
                <a:latin typeface="Outfit"/>
              </a:defRPr>
            </a:pPr>
            <a:r>
              <a:t>$0</a:t>
            </a:r>
          </a:p>
          <a:p>
            <a:pPr>
              <a:spcAft>
                <a:spcPts val="1000"/>
              </a:spcAft>
              <a:defRPr sz="1800" b="1">
                <a:solidFill>
                  <a:srgbClr val="0F2B5C"/>
                </a:solidFill>
                <a:latin typeface="Outfit"/>
              </a:defRPr>
            </a:pPr>
            <a:r>
              <a:t>Hosting &amp; Infrastructure Costs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Utilizes IndexedDB technology to store records inside the local secure browser cache. No complex network setup, server costs, or active internet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D4950A"/>
                </a:solidFill>
                <a:latin typeface="Outfit"/>
              </a:defRPr>
            </a:pPr>
            <a:r>
              <a:t>100%</a:t>
            </a:r>
          </a:p>
          <a:p>
            <a:pPr>
              <a:spcAft>
                <a:spcPts val="1000"/>
              </a:spcAft>
              <a:defRPr sz="1800" b="1">
                <a:solidFill>
                  <a:srgbClr val="0F2B5C"/>
                </a:solidFill>
                <a:latin typeface="Outfit"/>
              </a:defRPr>
            </a:pPr>
            <a:r>
              <a:t>Record Scan Compliance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  <a:latin typeface="Outfit"/>
              </a:defRPr>
            </a:pPr>
            <a:r>
              <a:t>Real-time auditing identifies files lacking scan attachments. Enables supervisors to easily check staff compliance and mandate scanning.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950A"/>
                </a:solidFill>
                <a:latin typeface="Outfit"/>
              </a:defRPr>
            </a:pPr>
            <a:r>
              <a:t>PROPOSED DEPLOYMENT SCHEDULE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Outfit"/>
              </a:defRPr>
            </a:pPr>
            <a:r>
              <a:t>Ready for Immediate ICS Archive Rollout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Outfit"/>
              </a:defRPr>
            </a:pPr>
            <a:r>
              <a:t>The application software is fully developed, compiled, and validated. We are prepared to proceed with the following schedule:</a:t>
            </a:r>
            <a:br/>
            <a:br/>
            <a:r>
              <a:t>•  Week 1: Local network setup and officer account creation.</a:t>
            </a:r>
            <a:br/>
            <a:r>
              <a:t>•  Week 2: Retroactive batch indexing of existing archive box numbers.</a:t>
            </a:r>
            <a:br/>
            <a:r>
              <a:t>•  Week 3: Officer training and official launch of digital queries.</a:t>
            </a:r>
            <a:br/>
            <a:br/>
            <a:r>
              <a:t>We kindly request approval from the CEO of ICS to proceed with the implementation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