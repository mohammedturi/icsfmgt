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9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65760" cy="6858000"/>
          </a:xfrm>
          <a:prstGeom prst="rect">
            <a:avLst/>
          </a:prstGeom>
          <a:solidFill>
            <a:srgbClr val="D495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1645920"/>
            <a:ext cx="100584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  <a:defRPr sz="1400" b="1">
                <a:solidFill>
                  <a:srgbClr val="D4950A"/>
                </a:solidFill>
                <a:latin typeface="Trebuchet MS"/>
              </a:defRPr>
            </a:pPr>
            <a:r>
              <a:t>IMMIGRATION &amp; CITIZENSHIP SERVICE (ICS)</a:t>
            </a:r>
          </a:p>
          <a:p>
            <a:pPr>
              <a:spcAft>
                <a:spcPts val="2000"/>
              </a:spcAft>
              <a:defRPr sz="4600" b="1">
                <a:solidFill>
                  <a:srgbClr val="FFFFFF"/>
                </a:solidFill>
                <a:latin typeface="Trebuchet MS"/>
              </a:defRPr>
            </a:pPr>
            <a:r>
              <a:t>Modern Digital File Archiving &amp; Management System</a:t>
            </a:r>
          </a:p>
          <a:p>
            <a:pPr>
              <a:defRPr sz="1800">
                <a:solidFill>
                  <a:srgbClr val="CBD5E1"/>
                </a:solidFill>
                <a:latin typeface="Calibri"/>
              </a:defRPr>
            </a:pPr>
            <a:r>
              <a:t>A secure, instant record retrieval platform to eliminate search delays, attach file scans directly, and secure sensitive passport data.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5486400"/>
            <a:ext cx="100584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475569"/>
                </a:solidFill>
                <a:latin typeface="Trebuchet MS"/>
              </a:defRPr>
            </a:pPr>
            <a:r>
              <a:t>DEVELOPED FOR SENIOR MANAGEMENT  |  ICS HEADQUARTERS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9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37160"/>
          </a:xfrm>
          <a:prstGeom prst="rect">
            <a:avLst/>
          </a:prstGeom>
          <a:solidFill>
            <a:srgbClr val="D495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400800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D4950A"/>
                </a:solidFill>
                <a:latin typeface="Trebuchet MS"/>
              </a:defRPr>
            </a:pPr>
            <a:r>
              <a:t>ICS FILE MANAGEMENT SYSTEM  |  SECURE DIGITAL ARCHIVING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65760"/>
            <a:ext cx="10698480" cy="1005840"/>
          </a:xfrm>
          <a:prstGeom prst="rect">
            <a:avLst/>
          </a:prstGeom>
          <a:noFill/>
        </p:spPr>
        <p:txBody>
          <a:bodyPr wrap="square" tIns="0" lIns="0">
            <a:spAutoFit/>
          </a:bodyPr>
          <a:lstStyle/>
          <a:p>
            <a:pPr>
              <a:spcAft>
                <a:spcPts val="400"/>
              </a:spcAft>
              <a:defRPr sz="1000" b="1">
                <a:solidFill>
                  <a:srgbClr val="D4950A"/>
                </a:solidFill>
                <a:latin typeface="Trebuchet MS"/>
              </a:defRPr>
            </a:pPr>
            <a:r>
              <a:t>IMMIGRATION &amp; CITIZENSHIP SERVICE (ICS) PROPOSAL</a:t>
            </a:r>
          </a:p>
          <a:p>
            <a:pPr>
              <a:defRPr sz="3200" b="1">
                <a:solidFill>
                  <a:srgbClr val="FFFFFF"/>
                </a:solidFill>
                <a:latin typeface="Trebuchet MS"/>
              </a:defRPr>
            </a:pPr>
            <a:r>
              <a:t>The Core Archival Challenges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80160"/>
            <a:ext cx="106984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>
                <a:solidFill>
                  <a:srgbClr val="CBD5E1"/>
                </a:solidFill>
                <a:latin typeface="Trebuchet MS"/>
              </a:defRPr>
            </a:pPr>
            <a:r>
              <a:t>Our current manual paper archive system causes customer wait times and security risks.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920240"/>
            <a:ext cx="3291840" cy="3931920"/>
          </a:xfrm>
          <a:prstGeom prst="roundRect">
            <a:avLst/>
          </a:prstGeom>
          <a:solidFill>
            <a:srgbClr val="1E293B"/>
          </a:solidFill>
          <a:ln w="25400"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103120"/>
            <a:ext cx="2926080" cy="3566160"/>
          </a:xfrm>
          <a:prstGeom prst="rect">
            <a:avLst/>
          </a:prstGeom>
          <a:noFill/>
        </p:spPr>
        <p:txBody>
          <a:bodyPr wrap="square" tIns="91440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DC2626"/>
                </a:solidFill>
                <a:latin typeface="Trebuchet MS"/>
              </a:defRPr>
            </a:pPr>
            <a:r>
              <a:t>[OPERATIONAL PAIN POINT]</a:t>
            </a:r>
          </a:p>
          <a:p>
            <a:pPr>
              <a:spcAft>
                <a:spcPts val="1200"/>
              </a:spcAft>
              <a:defRPr sz="2000" b="1">
                <a:solidFill>
                  <a:srgbClr val="FFFFFF"/>
                </a:solidFill>
                <a:latin typeface="Trebuchet MS"/>
              </a:defRPr>
            </a:pPr>
            <a:r>
              <a:t>1. Lost File Search Delay</a:t>
            </a:r>
          </a:p>
          <a:p>
            <a:pPr>
              <a:lnSpc>
                <a:spcPct val="130000"/>
              </a:lnSpc>
              <a:defRPr sz="1400">
                <a:solidFill>
                  <a:srgbClr val="E2E8F0"/>
                </a:solidFill>
                <a:latin typeface="Calibri"/>
              </a:defRPr>
            </a:pPr>
            <a:r>
              <a:t>Staff must walk to physical rooms and dig through boxes. This takes from 30 minutes to several days per file, slowing down national passport and visa issuance.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89120" y="1920240"/>
            <a:ext cx="3291840" cy="3931920"/>
          </a:xfrm>
          <a:prstGeom prst="roundRect">
            <a:avLst/>
          </a:prstGeom>
          <a:solidFill>
            <a:srgbClr val="1E293B"/>
          </a:solidFill>
          <a:ln w="25400"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0" y="2103120"/>
            <a:ext cx="2926080" cy="3566160"/>
          </a:xfrm>
          <a:prstGeom prst="rect">
            <a:avLst/>
          </a:prstGeom>
          <a:noFill/>
        </p:spPr>
        <p:txBody>
          <a:bodyPr wrap="square" tIns="91440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DC2626"/>
                </a:solidFill>
                <a:latin typeface="Trebuchet MS"/>
              </a:defRPr>
            </a:pPr>
            <a:r>
              <a:t>[DATA ORGANIZATION PAIN POINT]</a:t>
            </a:r>
          </a:p>
          <a:p>
            <a:pPr>
              <a:spcAft>
                <a:spcPts val="1200"/>
              </a:spcAft>
              <a:defRPr sz="2000" b="1">
                <a:solidFill>
                  <a:srgbClr val="FFFFFF"/>
                </a:solidFill>
                <a:latin typeface="Trebuchet MS"/>
              </a:defRPr>
            </a:pPr>
            <a:r>
              <a:t>2. Loose Physical Scans</a:t>
            </a:r>
          </a:p>
          <a:p>
            <a:pPr>
              <a:lnSpc>
                <a:spcPct val="130000"/>
              </a:lnSpc>
              <a:defRPr sz="1400">
                <a:solidFill>
                  <a:srgbClr val="E2E8F0"/>
                </a:solidFill>
                <a:latin typeface="Calibri"/>
              </a:defRPr>
            </a:pPr>
            <a:r>
              <a:t>Digital scans are saved in scattered folders on different PCs. Finding a customer's scan is disconnected from their registration records, leading to document loss.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046720" y="1920240"/>
            <a:ext cx="3291840" cy="3931920"/>
          </a:xfrm>
          <a:prstGeom prst="roundRect">
            <a:avLst/>
          </a:prstGeom>
          <a:solidFill>
            <a:srgbClr val="1E293B"/>
          </a:solidFill>
          <a:ln w="25400"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600" y="2103120"/>
            <a:ext cx="2926080" cy="3566160"/>
          </a:xfrm>
          <a:prstGeom prst="rect">
            <a:avLst/>
          </a:prstGeom>
          <a:noFill/>
        </p:spPr>
        <p:txBody>
          <a:bodyPr wrap="square" tIns="91440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DC2626"/>
                </a:solidFill>
                <a:latin typeface="Trebuchet MS"/>
              </a:defRPr>
            </a:pPr>
            <a:r>
              <a:t>[SECURITY PAIN POINT]</a:t>
            </a:r>
          </a:p>
          <a:p>
            <a:pPr>
              <a:spcAft>
                <a:spcPts val="1200"/>
              </a:spcAft>
              <a:defRPr sz="2000" b="1">
                <a:solidFill>
                  <a:srgbClr val="FFFFFF"/>
                </a:solidFill>
                <a:latin typeface="Trebuchet MS"/>
              </a:defRPr>
            </a:pPr>
            <a:r>
              <a:t>3. Security &amp; Audit Gaps</a:t>
            </a:r>
          </a:p>
          <a:p>
            <a:pPr>
              <a:lnSpc>
                <a:spcPct val="130000"/>
              </a:lnSpc>
              <a:defRPr sz="1400">
                <a:solidFill>
                  <a:srgbClr val="E2E8F0"/>
                </a:solidFill>
                <a:latin typeface="Calibri"/>
              </a:defRPr>
            </a:pPr>
            <a:r>
              <a:t>Sensitive national records (Eritrean IDs, Travel Documents) lack scoped permissions. Without user logs, supervisors cannot audit who opened or edited a record.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37160"/>
          </a:xfrm>
          <a:prstGeom prst="rect">
            <a:avLst/>
          </a:prstGeom>
          <a:solidFill>
            <a:srgbClr val="D495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400800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0A192F"/>
                </a:solidFill>
                <a:latin typeface="Trebuchet MS"/>
              </a:defRPr>
            </a:pPr>
            <a:r>
              <a:t>ICS FILE MANAGEMENT SYSTEM  |  SECURE DIGITAL ARCHIVING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65760"/>
            <a:ext cx="10698480" cy="1005840"/>
          </a:xfrm>
          <a:prstGeom prst="rect">
            <a:avLst/>
          </a:prstGeom>
          <a:noFill/>
        </p:spPr>
        <p:txBody>
          <a:bodyPr wrap="square" tIns="0" lIns="0">
            <a:spAutoFit/>
          </a:bodyPr>
          <a:lstStyle/>
          <a:p>
            <a:pPr>
              <a:spcAft>
                <a:spcPts val="400"/>
              </a:spcAft>
              <a:defRPr sz="1000" b="1">
                <a:solidFill>
                  <a:srgbClr val="D4950A"/>
                </a:solidFill>
                <a:latin typeface="Trebuchet MS"/>
              </a:defRPr>
            </a:pPr>
            <a:r>
              <a:t>IMMIGRATION &amp; CITIZENSHIP SERVICE (ICS) PROPOSAL</a:t>
            </a:r>
          </a:p>
          <a:p>
            <a:pPr>
              <a:defRPr sz="3200" b="1">
                <a:solidFill>
                  <a:srgbClr val="0A192F"/>
                </a:solidFill>
                <a:latin typeface="Trebuchet MS"/>
              </a:defRPr>
            </a:pPr>
            <a:r>
              <a:t>Centralized Digital FMS Solution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80160"/>
            <a:ext cx="106984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>
                <a:solidFill>
                  <a:srgbClr val="475569"/>
                </a:solidFill>
                <a:latin typeface="Trebuchet MS"/>
              </a:defRPr>
            </a:pPr>
            <a:r>
              <a:t>FMS resolves physical search friction and locks down file permissions securely.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920240"/>
            <a:ext cx="3291840" cy="393192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103120"/>
            <a:ext cx="2926080" cy="3566160"/>
          </a:xfrm>
          <a:prstGeom prst="rect">
            <a:avLst/>
          </a:prstGeom>
          <a:noFill/>
        </p:spPr>
        <p:txBody>
          <a:bodyPr wrap="square" tIns="91440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059669"/>
                </a:solidFill>
                <a:latin typeface="Trebuchet MS"/>
              </a:defRPr>
            </a:pPr>
            <a:r>
              <a:t>[SOLUTION 1]</a:t>
            </a:r>
          </a:p>
          <a:p>
            <a:pPr>
              <a:spcAft>
                <a:spcPts val="1200"/>
              </a:spcAft>
              <a:defRPr sz="2000" b="1">
                <a:solidFill>
                  <a:srgbClr val="0A192F"/>
                </a:solidFill>
                <a:latin typeface="Trebuchet MS"/>
              </a:defRPr>
            </a:pPr>
            <a:r>
              <a:t>Instant Digital Query</a:t>
            </a:r>
          </a:p>
          <a:p>
            <a:pPr>
              <a:lnSpc>
                <a:spcPct val="130000"/>
              </a:lnSpc>
              <a:defRPr sz="1400">
                <a:solidFill>
                  <a:srgbClr val="0F172A"/>
                </a:solidFill>
                <a:latin typeface="Calibri"/>
              </a:defRPr>
            </a:pPr>
            <a:r>
              <a:t>Allows indexing by Name, Passport Number, Box Number, or Request Number. Retrieve any applicant file location on screen in under 3 seconds.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89120" y="1920240"/>
            <a:ext cx="3291840" cy="393192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0" y="2103120"/>
            <a:ext cx="2926080" cy="3566160"/>
          </a:xfrm>
          <a:prstGeom prst="rect">
            <a:avLst/>
          </a:prstGeom>
          <a:noFill/>
        </p:spPr>
        <p:txBody>
          <a:bodyPr wrap="square" tIns="91440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059669"/>
                </a:solidFill>
                <a:latin typeface="Trebuchet MS"/>
              </a:defRPr>
            </a:pPr>
            <a:r>
              <a:t>[SOLUTION 2]</a:t>
            </a:r>
          </a:p>
          <a:p>
            <a:pPr>
              <a:spcAft>
                <a:spcPts val="1200"/>
              </a:spcAft>
              <a:defRPr sz="2000" b="1">
                <a:solidFill>
                  <a:srgbClr val="0A192F"/>
                </a:solidFill>
                <a:latin typeface="Trebuchet MS"/>
              </a:defRPr>
            </a:pPr>
            <a:r>
              <a:t>Direct File Attachments</a:t>
            </a:r>
          </a:p>
          <a:p>
            <a:pPr>
              <a:lnSpc>
                <a:spcPct val="130000"/>
              </a:lnSpc>
              <a:defRPr sz="1400">
                <a:solidFill>
                  <a:srgbClr val="0F172A"/>
                </a:solidFill>
                <a:latin typeface="Calibri"/>
              </a:defRPr>
            </a:pPr>
            <a:r>
              <a:t>Multi-page application PDFs or image scans attach directly to the digital record. Officers view files on their screens instantly — no physical archive trips required.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046720" y="1920240"/>
            <a:ext cx="3291840" cy="393192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600" y="2103120"/>
            <a:ext cx="2926080" cy="3566160"/>
          </a:xfrm>
          <a:prstGeom prst="rect">
            <a:avLst/>
          </a:prstGeom>
          <a:noFill/>
        </p:spPr>
        <p:txBody>
          <a:bodyPr wrap="square" tIns="91440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059669"/>
                </a:solidFill>
                <a:latin typeface="Trebuchet MS"/>
              </a:defRPr>
            </a:pPr>
            <a:r>
              <a:t>[SOLUTION 3]</a:t>
            </a:r>
          </a:p>
          <a:p>
            <a:pPr>
              <a:spcAft>
                <a:spcPts val="1200"/>
              </a:spcAft>
              <a:defRPr sz="2000" b="1">
                <a:solidFill>
                  <a:srgbClr val="0A192F"/>
                </a:solidFill>
                <a:latin typeface="Trebuchet MS"/>
              </a:defRPr>
            </a:pPr>
            <a:r>
              <a:t>Interactive Dashboards</a:t>
            </a:r>
          </a:p>
          <a:p>
            <a:pPr>
              <a:lnSpc>
                <a:spcPct val="130000"/>
              </a:lnSpc>
              <a:defRPr sz="1400">
                <a:solidFill>
                  <a:srgbClr val="0F172A"/>
                </a:solidFill>
                <a:latin typeface="Calibri"/>
              </a:defRPr>
            </a:pPr>
            <a:r>
              <a:t>Presents analytics on total entries, department tallies, and scanning compliance. One-click buttons instantly print official reports with formal ICS headers.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37160"/>
          </a:xfrm>
          <a:prstGeom prst="rect">
            <a:avLst/>
          </a:prstGeom>
          <a:solidFill>
            <a:srgbClr val="D495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400800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0A192F"/>
                </a:solidFill>
                <a:latin typeface="Trebuchet MS"/>
              </a:defRPr>
            </a:pPr>
            <a:r>
              <a:t>ICS FILE MANAGEMENT SYSTEM  |  SECURE DIGITAL ARCHIVING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65760"/>
            <a:ext cx="10698480" cy="1005840"/>
          </a:xfrm>
          <a:prstGeom prst="rect">
            <a:avLst/>
          </a:prstGeom>
          <a:noFill/>
        </p:spPr>
        <p:txBody>
          <a:bodyPr wrap="square" tIns="0" lIns="0">
            <a:spAutoFit/>
          </a:bodyPr>
          <a:lstStyle/>
          <a:p>
            <a:pPr>
              <a:spcAft>
                <a:spcPts val="400"/>
              </a:spcAft>
              <a:defRPr sz="1000" b="1">
                <a:solidFill>
                  <a:srgbClr val="D4950A"/>
                </a:solidFill>
                <a:latin typeface="Trebuchet MS"/>
              </a:defRPr>
            </a:pPr>
            <a:r>
              <a:t>IMMIGRATION &amp; CITIZENSHIP SERVICE (ICS) PROPOSAL</a:t>
            </a:r>
          </a:p>
          <a:p>
            <a:pPr>
              <a:defRPr sz="3200" b="1">
                <a:solidFill>
                  <a:srgbClr val="0A192F"/>
                </a:solidFill>
                <a:latin typeface="Trebuchet MS"/>
              </a:defRPr>
            </a:pPr>
            <a:r>
              <a:t>How it Works: Instant 3-Step Retrieval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920240"/>
            <a:ext cx="3291840" cy="393192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2103120"/>
            <a:ext cx="2926080" cy="3566160"/>
          </a:xfrm>
          <a:prstGeom prst="rect">
            <a:avLst/>
          </a:prstGeom>
          <a:noFill/>
        </p:spPr>
        <p:txBody>
          <a:bodyPr wrap="square" tIns="91440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1D4ED8"/>
                </a:solidFill>
                <a:latin typeface="Trebuchet MS"/>
              </a:defRPr>
            </a:pPr>
            <a:r>
              <a:t>[01]</a:t>
            </a:r>
          </a:p>
          <a:p>
            <a:pPr>
              <a:spcAft>
                <a:spcPts val="1200"/>
              </a:spcAft>
              <a:defRPr sz="2000" b="1">
                <a:solidFill>
                  <a:srgbClr val="0A192F"/>
                </a:solidFill>
                <a:latin typeface="Trebuchet MS"/>
              </a:defRPr>
            </a:pPr>
            <a:r>
              <a:t>Step 1: Input Details</a:t>
            </a:r>
          </a:p>
          <a:p>
            <a:pPr>
              <a:lnSpc>
                <a:spcPct val="130000"/>
              </a:lnSpc>
              <a:defRPr sz="1400">
                <a:solidFill>
                  <a:srgbClr val="0F172A"/>
                </a:solidFill>
                <a:latin typeface="Calibri"/>
              </a:defRPr>
            </a:pPr>
            <a:r>
              <a:t>Archivist inputs basic customer information (Name, Passport No, Box No) and uploads multi-file document scans directly into the record.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89120" y="1920240"/>
            <a:ext cx="3291840" cy="393192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0" y="2103120"/>
            <a:ext cx="2926080" cy="3566160"/>
          </a:xfrm>
          <a:prstGeom prst="rect">
            <a:avLst/>
          </a:prstGeom>
          <a:noFill/>
        </p:spPr>
        <p:txBody>
          <a:bodyPr wrap="square" tIns="91440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1D4ED8"/>
                </a:solidFill>
                <a:latin typeface="Trebuchet MS"/>
              </a:defRPr>
            </a:pPr>
            <a:r>
              <a:t>[02]</a:t>
            </a:r>
          </a:p>
          <a:p>
            <a:pPr>
              <a:spcAft>
                <a:spcPts val="1200"/>
              </a:spcAft>
              <a:defRPr sz="2000" b="1">
                <a:solidFill>
                  <a:srgbClr val="0A192F"/>
                </a:solidFill>
                <a:latin typeface="Trebuchet MS"/>
              </a:defRPr>
            </a:pPr>
            <a:r>
              <a:t>Step 2: Digital Archiving</a:t>
            </a:r>
          </a:p>
          <a:p>
            <a:pPr>
              <a:lnSpc>
                <a:spcPct val="130000"/>
              </a:lnSpc>
              <a:defRPr sz="1400">
                <a:solidFill>
                  <a:srgbClr val="0F172A"/>
                </a:solidFill>
                <a:latin typeface="Calibri"/>
              </a:defRPr>
            </a:pPr>
            <a:r>
              <a:t>The system indexes all entries, links attachments, and updates department analytics. Data is saved locally in a secure browser database.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046720" y="1920240"/>
            <a:ext cx="3291840" cy="393192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0" y="2103120"/>
            <a:ext cx="2926080" cy="3566160"/>
          </a:xfrm>
          <a:prstGeom prst="rect">
            <a:avLst/>
          </a:prstGeom>
          <a:noFill/>
        </p:spPr>
        <p:txBody>
          <a:bodyPr wrap="square" tIns="91440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1D4ED8"/>
                </a:solidFill>
                <a:latin typeface="Trebuchet MS"/>
              </a:defRPr>
            </a:pPr>
            <a:r>
              <a:t>[03]</a:t>
            </a:r>
          </a:p>
          <a:p>
            <a:pPr>
              <a:spcAft>
                <a:spcPts val="1200"/>
              </a:spcAft>
              <a:defRPr sz="2000" b="1">
                <a:solidFill>
                  <a:srgbClr val="0A192F"/>
                </a:solidFill>
                <a:latin typeface="Trebuchet MS"/>
              </a:defRPr>
            </a:pPr>
            <a:r>
              <a:t>Step 3: Immediate Search</a:t>
            </a:r>
          </a:p>
          <a:p>
            <a:pPr>
              <a:lnSpc>
                <a:spcPct val="130000"/>
              </a:lnSpc>
              <a:defRPr sz="1400">
                <a:solidFill>
                  <a:srgbClr val="0F172A"/>
                </a:solidFill>
                <a:latin typeface="Calibri"/>
              </a:defRPr>
            </a:pPr>
            <a:r>
              <a:t>An authorized supervisor or officer searches the passport number. The record, box location, and PDF scan display on the screen instantly.</a:t>
            </a:r>
          </a:p>
        </p:txBody>
      </p:sp>
      <p:sp>
        <p:nvSpPr>
          <p:cNvPr id="11" name="Oval 10"/>
          <p:cNvSpPr/>
          <p:nvPr/>
        </p:nvSpPr>
        <p:spPr>
          <a:xfrm>
            <a:off x="1005840" y="1755867227400"/>
            <a:ext cx="640080" cy="640080"/>
          </a:xfrm>
          <a:prstGeom prst="ellipse">
            <a:avLst/>
          </a:prstGeom>
          <a:solidFill>
            <a:srgbClr val="D495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>
              <a:defRPr sz="2000" b="1">
                <a:solidFill>
                  <a:srgbClr val="FFFFFF"/>
                </a:solidFill>
                <a:latin typeface="Trebuchet MS"/>
              </a:defRPr>
            </a:pPr>
            <a:r>
              <a:t>1</a:t>
            </a:r>
          </a:p>
        </p:txBody>
      </p:sp>
      <p:sp>
        <p:nvSpPr>
          <p:cNvPr id="12" name="Oval 11"/>
          <p:cNvSpPr/>
          <p:nvPr/>
        </p:nvSpPr>
        <p:spPr>
          <a:xfrm>
            <a:off x="4663440" y="1755867227400"/>
            <a:ext cx="640080" cy="640080"/>
          </a:xfrm>
          <a:prstGeom prst="ellipse">
            <a:avLst/>
          </a:prstGeom>
          <a:solidFill>
            <a:srgbClr val="D495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>
              <a:defRPr sz="2000" b="1">
                <a:solidFill>
                  <a:srgbClr val="FFFFFF"/>
                </a:solidFill>
                <a:latin typeface="Trebuchet MS"/>
              </a:defRPr>
            </a:pPr>
            <a:r>
              <a:t>2</a:t>
            </a:r>
          </a:p>
        </p:txBody>
      </p:sp>
      <p:sp>
        <p:nvSpPr>
          <p:cNvPr id="13" name="Oval 12"/>
          <p:cNvSpPr/>
          <p:nvPr/>
        </p:nvSpPr>
        <p:spPr>
          <a:xfrm>
            <a:off x="8321040" y="1755867227400"/>
            <a:ext cx="640080" cy="640080"/>
          </a:xfrm>
          <a:prstGeom prst="ellipse">
            <a:avLst/>
          </a:prstGeom>
          <a:solidFill>
            <a:srgbClr val="D495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>
              <a:defRPr sz="2000" b="1">
                <a:solidFill>
                  <a:srgbClr val="FFFFFF"/>
                </a:solidFill>
                <a:latin typeface="Trebuchet MS"/>
              </a:defRPr>
            </a:pPr>
            <a:r>
              <a:t>3</a:t>
            </a:r>
          </a:p>
        </p:txBody>
      </p:sp>
      <p:sp>
        <p:nvSpPr>
          <p:cNvPr id="14" name="Right Arrow 13"/>
          <p:cNvSpPr/>
          <p:nvPr/>
        </p:nvSpPr>
        <p:spPr>
          <a:xfrm>
            <a:off x="4160520" y="3657600"/>
            <a:ext cx="274320" cy="182880"/>
          </a:xfrm>
          <a:prstGeom prst="rightArrow">
            <a:avLst/>
          </a:prstGeom>
          <a:solidFill>
            <a:srgbClr val="D495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ight Arrow 14"/>
          <p:cNvSpPr/>
          <p:nvPr/>
        </p:nvSpPr>
        <p:spPr>
          <a:xfrm>
            <a:off x="7818120" y="3657600"/>
            <a:ext cx="274320" cy="182880"/>
          </a:xfrm>
          <a:prstGeom prst="rightArrow">
            <a:avLst/>
          </a:prstGeom>
          <a:solidFill>
            <a:srgbClr val="D495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9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37160"/>
          </a:xfrm>
          <a:prstGeom prst="rect">
            <a:avLst/>
          </a:prstGeom>
          <a:solidFill>
            <a:srgbClr val="D495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400800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D4950A"/>
                </a:solidFill>
                <a:latin typeface="Trebuchet MS"/>
              </a:defRPr>
            </a:pPr>
            <a:r>
              <a:t>ICS FILE MANAGEMENT SYSTEM  |  SECURE DIGITAL ARCHIVING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65760"/>
            <a:ext cx="10698480" cy="1005840"/>
          </a:xfrm>
          <a:prstGeom prst="rect">
            <a:avLst/>
          </a:prstGeom>
          <a:noFill/>
        </p:spPr>
        <p:txBody>
          <a:bodyPr wrap="square" tIns="0" lIns="0">
            <a:spAutoFit/>
          </a:bodyPr>
          <a:lstStyle/>
          <a:p>
            <a:pPr>
              <a:spcAft>
                <a:spcPts val="400"/>
              </a:spcAft>
              <a:defRPr sz="1000" b="1">
                <a:solidFill>
                  <a:srgbClr val="D4950A"/>
                </a:solidFill>
                <a:latin typeface="Trebuchet MS"/>
              </a:defRPr>
            </a:pPr>
            <a:r>
              <a:t>IMMIGRATION &amp; CITIZENSHIP SERVICE (ICS) PROPOSAL</a:t>
            </a:r>
          </a:p>
          <a:p>
            <a:pPr>
              <a:defRPr sz="3200" b="1">
                <a:solidFill>
                  <a:srgbClr val="FFFFFF"/>
                </a:solidFill>
                <a:latin typeface="Trebuchet MS"/>
              </a:defRPr>
            </a:pPr>
            <a:r>
              <a:t>Role-Based Data Security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80160"/>
            <a:ext cx="106984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>
                <a:solidFill>
                  <a:srgbClr val="CBD5E1"/>
                </a:solidFill>
                <a:latin typeface="Trebuchet MS"/>
              </a:defRPr>
            </a:pPr>
            <a:r>
              <a:t>Ensures data confidentiality. Officers only view the departments they are assigned to work in.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920240"/>
            <a:ext cx="2468880" cy="3931920"/>
          </a:xfrm>
          <a:prstGeom prst="roundRect">
            <a:avLst/>
          </a:prstGeom>
          <a:solidFill>
            <a:srgbClr val="1E293B"/>
          </a:solidFill>
          <a:ln w="25400"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103120"/>
            <a:ext cx="2103120" cy="3566160"/>
          </a:xfrm>
          <a:prstGeom prst="rect">
            <a:avLst/>
          </a:prstGeom>
          <a:noFill/>
        </p:spPr>
        <p:txBody>
          <a:bodyPr wrap="square" tIns="91440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D4950A"/>
                </a:solidFill>
                <a:latin typeface="Trebuchet MS"/>
              </a:defRPr>
            </a:pPr>
            <a:r>
              <a:t>[SYSTEM ADMIN]</a:t>
            </a:r>
          </a:p>
          <a:p>
            <a:pPr>
              <a:spcAft>
                <a:spcPts val="1200"/>
              </a:spcAft>
              <a:defRPr sz="2000" b="1">
                <a:solidFill>
                  <a:srgbClr val="FFFFFF"/>
                </a:solidFill>
                <a:latin typeface="Trebuchet MS"/>
              </a:defRPr>
            </a:pPr>
            <a:r>
              <a:t>1. Administrator</a:t>
            </a:r>
          </a:p>
          <a:p>
            <a:pPr>
              <a:lnSpc>
                <a:spcPct val="130000"/>
              </a:lnSpc>
              <a:defRPr sz="1400">
                <a:solidFill>
                  <a:srgbClr val="E2E8F0"/>
                </a:solidFill>
                <a:latin typeface="Calibri"/>
              </a:defRPr>
            </a:pPr>
            <a:r>
              <a:t>Manages officer system logins, seeds departments, imports database backups, and reviews system logs.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383280" y="1920240"/>
            <a:ext cx="2468880" cy="3931920"/>
          </a:xfrm>
          <a:prstGeom prst="roundRect">
            <a:avLst/>
          </a:prstGeom>
          <a:solidFill>
            <a:srgbClr val="1E293B"/>
          </a:solidFill>
          <a:ln w="25400"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566160" y="2103120"/>
            <a:ext cx="2103120" cy="3566160"/>
          </a:xfrm>
          <a:prstGeom prst="rect">
            <a:avLst/>
          </a:prstGeom>
          <a:noFill/>
        </p:spPr>
        <p:txBody>
          <a:bodyPr wrap="square" tIns="91440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D4950A"/>
                </a:solidFill>
                <a:latin typeface="Trebuchet MS"/>
              </a:defRPr>
            </a:pPr>
            <a:r>
              <a:t>[DIVISION CONTROL]</a:t>
            </a:r>
          </a:p>
          <a:p>
            <a:pPr>
              <a:spcAft>
                <a:spcPts val="1200"/>
              </a:spcAft>
              <a:defRPr sz="2000" b="1">
                <a:solidFill>
                  <a:srgbClr val="FFFFFF"/>
                </a:solidFill>
                <a:latin typeface="Trebuchet MS"/>
              </a:defRPr>
            </a:pPr>
            <a:r>
              <a:t>2. Supervisor</a:t>
            </a:r>
          </a:p>
          <a:p>
            <a:pPr>
              <a:lnSpc>
                <a:spcPct val="130000"/>
              </a:lnSpc>
              <a:defRPr sz="1400">
                <a:solidFill>
                  <a:srgbClr val="E2E8F0"/>
                </a:solidFill>
                <a:latin typeface="Calibri"/>
              </a:defRPr>
            </a:pPr>
            <a:r>
              <a:t>Has full access to all 8 file divisions. Generates and prints analytics reports. Exports Excel-ready CSV lists.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035040" y="1920240"/>
            <a:ext cx="2468880" cy="3931920"/>
          </a:xfrm>
          <a:prstGeom prst="roundRect">
            <a:avLst/>
          </a:prstGeom>
          <a:solidFill>
            <a:srgbClr val="1E293B"/>
          </a:solidFill>
          <a:ln w="25400"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217920" y="2103120"/>
            <a:ext cx="2103120" cy="3566160"/>
          </a:xfrm>
          <a:prstGeom prst="rect">
            <a:avLst/>
          </a:prstGeom>
          <a:noFill/>
        </p:spPr>
        <p:txBody>
          <a:bodyPr wrap="square" tIns="91440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D4950A"/>
                </a:solidFill>
                <a:latin typeface="Trebuchet MS"/>
              </a:defRPr>
            </a:pPr>
            <a:r>
              <a:t>[DATA ENTRY]</a:t>
            </a:r>
          </a:p>
          <a:p>
            <a:pPr>
              <a:spcAft>
                <a:spcPts val="1200"/>
              </a:spcAft>
              <a:defRPr sz="2000" b="1">
                <a:solidFill>
                  <a:srgbClr val="FFFFFF"/>
                </a:solidFill>
                <a:latin typeface="Trebuchet MS"/>
              </a:defRPr>
            </a:pPr>
            <a:r>
              <a:t>3. Officer</a:t>
            </a:r>
          </a:p>
          <a:p>
            <a:pPr>
              <a:lnSpc>
                <a:spcPct val="130000"/>
              </a:lnSpc>
              <a:defRPr sz="1400">
                <a:solidFill>
                  <a:srgbClr val="E2E8F0"/>
                </a:solidFill>
                <a:latin typeface="Calibri"/>
              </a:defRPr>
            </a:pPr>
            <a:r>
              <a:t>Performs record entry and edits. Strictly restricted to assigned modules (e.g. VISA officer cannot see Eritrean IDs).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686800" y="1920240"/>
            <a:ext cx="2468880" cy="3931920"/>
          </a:xfrm>
          <a:prstGeom prst="roundRect">
            <a:avLst/>
          </a:prstGeom>
          <a:solidFill>
            <a:srgbClr val="1E293B"/>
          </a:solidFill>
          <a:ln w="25400"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869680" y="2103120"/>
            <a:ext cx="2103120" cy="3566160"/>
          </a:xfrm>
          <a:prstGeom prst="rect">
            <a:avLst/>
          </a:prstGeom>
          <a:noFill/>
        </p:spPr>
        <p:txBody>
          <a:bodyPr wrap="square" tIns="91440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D4950A"/>
                </a:solidFill>
                <a:latin typeface="Trebuchet MS"/>
              </a:defRPr>
            </a:pPr>
            <a:r>
              <a:t>[READ-ONLY]</a:t>
            </a:r>
          </a:p>
          <a:p>
            <a:pPr>
              <a:spcAft>
                <a:spcPts val="1200"/>
              </a:spcAft>
              <a:defRPr sz="2000" b="1">
                <a:solidFill>
                  <a:srgbClr val="FFFFFF"/>
                </a:solidFill>
                <a:latin typeface="Trebuchet MS"/>
              </a:defRPr>
            </a:pPr>
            <a:r>
              <a:t>4. Viewer</a:t>
            </a:r>
          </a:p>
          <a:p>
            <a:pPr>
              <a:lnSpc>
                <a:spcPct val="130000"/>
              </a:lnSpc>
              <a:defRPr sz="1400">
                <a:solidFill>
                  <a:srgbClr val="E2E8F0"/>
                </a:solidFill>
                <a:latin typeface="Calibri"/>
              </a:defRPr>
            </a:pPr>
            <a:r>
              <a:t>Has read-only search and lookup capabilities. Opens document scans but cannot edit database entries.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37160"/>
          </a:xfrm>
          <a:prstGeom prst="rect">
            <a:avLst/>
          </a:prstGeom>
          <a:solidFill>
            <a:srgbClr val="D495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400800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0A192F"/>
                </a:solidFill>
                <a:latin typeface="Trebuchet MS"/>
              </a:defRPr>
            </a:pPr>
            <a:r>
              <a:t>ICS FILE MANAGEMENT SYSTEM  |  SECURE DIGITAL ARCHIVING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65760"/>
            <a:ext cx="10698480" cy="1005840"/>
          </a:xfrm>
          <a:prstGeom prst="rect">
            <a:avLst/>
          </a:prstGeom>
          <a:noFill/>
        </p:spPr>
        <p:txBody>
          <a:bodyPr wrap="square" tIns="0" lIns="0">
            <a:spAutoFit/>
          </a:bodyPr>
          <a:lstStyle/>
          <a:p>
            <a:pPr>
              <a:spcAft>
                <a:spcPts val="400"/>
              </a:spcAft>
              <a:defRPr sz="1000" b="1">
                <a:solidFill>
                  <a:srgbClr val="D4950A"/>
                </a:solidFill>
                <a:latin typeface="Trebuchet MS"/>
              </a:defRPr>
            </a:pPr>
            <a:r>
              <a:t>IMMIGRATION &amp; CITIZENSHIP SERVICE (ICS) PROPOSAL</a:t>
            </a:r>
          </a:p>
          <a:p>
            <a:pPr>
              <a:defRPr sz="3200" b="1">
                <a:solidFill>
                  <a:srgbClr val="0A192F"/>
                </a:solidFill>
                <a:latin typeface="Trebuchet MS"/>
              </a:defRPr>
            </a:pPr>
            <a:r>
              <a:t>Operational Impact &amp; Strategic Value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80160"/>
            <a:ext cx="106984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>
                <a:solidFill>
                  <a:srgbClr val="475569"/>
                </a:solidFill>
                <a:latin typeface="Trebuchet MS"/>
              </a:defRPr>
            </a:pPr>
            <a:r>
              <a:t>A low-cost, high-performance system designed for immediate operational improvements.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920240"/>
            <a:ext cx="3291840" cy="393192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194560"/>
            <a:ext cx="292608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5600" b="1">
                <a:solidFill>
                  <a:srgbClr val="D4950A"/>
                </a:solidFill>
                <a:latin typeface="Trebuchet MS"/>
              </a:defRPr>
            </a:pPr>
            <a:r>
              <a:t>99%</a:t>
            </a:r>
          </a:p>
          <a:p>
            <a:pPr>
              <a:spcAft>
                <a:spcPts val="1200"/>
              </a:spcAft>
              <a:defRPr sz="2000" b="1">
                <a:solidFill>
                  <a:srgbClr val="0A192F"/>
                </a:solidFill>
                <a:latin typeface="Trebuchet MS"/>
              </a:defRPr>
            </a:pPr>
            <a:r>
              <a:t>Faster Processing</a:t>
            </a:r>
          </a:p>
          <a:p>
            <a:pPr>
              <a:lnSpc>
                <a:spcPct val="130000"/>
              </a:lnSpc>
              <a:defRPr sz="1400">
                <a:solidFill>
                  <a:srgbClr val="0F172A"/>
                </a:solidFill>
                <a:latin typeface="Calibri"/>
              </a:defRPr>
            </a:pPr>
            <a:r>
              <a:t>Retrieving files drops from an average of 30 minutes to under 3 seconds. Dramatically cuts down citizen wait times and queues.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89120" y="1920240"/>
            <a:ext cx="3291840" cy="393192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0" y="2194560"/>
            <a:ext cx="292608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5600" b="1">
                <a:solidFill>
                  <a:srgbClr val="D4950A"/>
                </a:solidFill>
                <a:latin typeface="Trebuchet MS"/>
              </a:defRPr>
            </a:pPr>
            <a:r>
              <a:t>$0</a:t>
            </a:r>
          </a:p>
          <a:p>
            <a:pPr>
              <a:spcAft>
                <a:spcPts val="1200"/>
              </a:spcAft>
              <a:defRPr sz="2000" b="1">
                <a:solidFill>
                  <a:srgbClr val="0A192F"/>
                </a:solidFill>
                <a:latin typeface="Trebuchet MS"/>
              </a:defRPr>
            </a:pPr>
            <a:r>
              <a:t>Infrastructure Costs</a:t>
            </a:r>
          </a:p>
          <a:p>
            <a:pPr>
              <a:lnSpc>
                <a:spcPct val="130000"/>
              </a:lnSpc>
              <a:defRPr sz="1400">
                <a:solidFill>
                  <a:srgbClr val="0F172A"/>
                </a:solidFill>
                <a:latin typeface="Calibri"/>
              </a:defRPr>
            </a:pPr>
            <a:r>
              <a:t>Leverages local HTML5 IndexedDB storage. Works completely offline inside the browser. No expensive database server licenses required.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046720" y="1920240"/>
            <a:ext cx="3291840" cy="393192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600" y="2194560"/>
            <a:ext cx="292608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5600" b="1">
                <a:solidFill>
                  <a:srgbClr val="D4950A"/>
                </a:solidFill>
                <a:latin typeface="Trebuchet MS"/>
              </a:defRPr>
            </a:pPr>
            <a:r>
              <a:t>100%</a:t>
            </a:r>
          </a:p>
          <a:p>
            <a:pPr>
              <a:spcAft>
                <a:spcPts val="1200"/>
              </a:spcAft>
              <a:defRPr sz="2000" b="1">
                <a:solidFill>
                  <a:srgbClr val="0A192F"/>
                </a:solidFill>
                <a:latin typeface="Trebuchet MS"/>
              </a:defRPr>
            </a:pPr>
            <a:r>
              <a:t>Auditing Compliance</a:t>
            </a:r>
          </a:p>
          <a:p>
            <a:pPr>
              <a:lnSpc>
                <a:spcPct val="130000"/>
              </a:lnSpc>
              <a:defRPr sz="1400">
                <a:solidFill>
                  <a:srgbClr val="0F172A"/>
                </a:solidFill>
                <a:latin typeface="Calibri"/>
              </a:defRPr>
            </a:pPr>
            <a:r>
              <a:t>Real-time compliance checks reveal which records lack scan attachments. Empowers supervisors to immediately audit department workflows.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9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65760" cy="6858000"/>
          </a:xfrm>
          <a:prstGeom prst="rect">
            <a:avLst/>
          </a:prstGeom>
          <a:solidFill>
            <a:srgbClr val="D495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1097280"/>
            <a:ext cx="10058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200" b="1">
                <a:solidFill>
                  <a:srgbClr val="D4950A"/>
                </a:solidFill>
                <a:latin typeface="Trebuchet MS"/>
              </a:defRPr>
            </a:pPr>
            <a:r>
              <a:t>ICS DIGITAL TRANSFORMATION ROADMAP</a:t>
            </a:r>
          </a:p>
          <a:p>
            <a:pPr>
              <a:spcAft>
                <a:spcPts val="2400"/>
              </a:spcAft>
              <a:defRPr sz="3800" b="1">
                <a:solidFill>
                  <a:srgbClr val="FFFFFF"/>
                </a:solidFill>
                <a:latin typeface="Trebuchet MS"/>
              </a:defRPr>
            </a:pPr>
            <a:r>
              <a:t>Proposed Implementation Schedule</a:t>
            </a:r>
          </a:p>
          <a:p>
            <a:pPr>
              <a:spcAft>
                <a:spcPts val="1000"/>
              </a:spcAft>
              <a:defRPr sz="1500">
                <a:solidFill>
                  <a:srgbClr val="FFFFFF"/>
                </a:solidFill>
                <a:latin typeface="Calibri"/>
              </a:defRPr>
            </a:pPr>
            <a:r>
              <a:t>•  Week 1: Setup local FMS system on PCs, seed officer logins, and set role permissions.</a:t>
            </a:r>
          </a:p>
          <a:p>
            <a:pPr>
              <a:spcAft>
                <a:spcPts val="1000"/>
              </a:spcAft>
              <a:defRPr sz="1500">
                <a:solidFill>
                  <a:srgbClr val="FFFFFF"/>
                </a:solidFill>
                <a:latin typeface="Calibri"/>
              </a:defRPr>
            </a:pPr>
            <a:r>
              <a:t>•  Week 2: Retroactively register active archive box numbers and upload index backlogs.</a:t>
            </a:r>
          </a:p>
          <a:p>
            <a:pPr>
              <a:spcAft>
                <a:spcPts val="2800"/>
              </a:spcAft>
              <a:defRPr sz="1500">
                <a:solidFill>
                  <a:srgbClr val="FFFFFF"/>
                </a:solidFill>
                <a:latin typeface="Calibri"/>
              </a:defRPr>
            </a:pPr>
            <a:r>
              <a:t>•  Week 3: Staff training, rollout of queries, and commencement of digital-first operations.</a:t>
            </a:r>
          </a:p>
          <a:p>
            <a:pPr>
              <a:defRPr sz="1800" b="1">
                <a:solidFill>
                  <a:srgbClr val="D4950A"/>
                </a:solidFill>
                <a:latin typeface="Trebuchet MS"/>
              </a:defRPr>
            </a:pPr>
            <a:r>
              <a:t>We kindly request project implementation approval from the CEO of ICS.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