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9728" cy="4663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IMMIGRATION &amp; CITIZENSHIP SERVICE (ICS) • EXECUTIVE BRIEFING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Digital Document Archive &amp; File Management System</a:t>
            </a:r>
          </a:p>
          <a:p>
            <a:pPr>
              <a:spcAft>
                <a:spcPts val="3200"/>
              </a:spcAft>
              <a:defRPr sz="1600">
                <a:solidFill>
                  <a:srgbClr val="CBD5E1"/>
                </a:solidFill>
              </a:defRPr>
            </a:pPr>
            <a:r>
              <a:t>Next-Generation Digital Transformation: Automated AI/OCR Intake, Physical Warehouse Tracking, Multi-Branch Federation, and Tamper-Proof Audit Compliance.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Presented for Senior Leadership &amp; Executive Board Approval  |  Version 2.0 Enterprise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54A8"/>
                </a:solidFill>
              </a:defRPr>
            </a:pPr>
            <a:r>
              <a:t>EXECUTIVE OVERVIEW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Modernizing National Immigration Archives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293B"/>
                </a:solidFill>
              </a:defRPr>
            </a:pPr>
            <a:r>
              <a:t>Bridging Digital Intelligence with Physical Warehouse Control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Replaces slow, vulnerable manual paper registers with an enterprise-grade digital management system.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Integrates Optical Character Recognition (AI/OCR) to auto-extract Machine Readable Zones (MRZ) from passports and IDs.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Provides dual-indexing: digital dossiers are linked to physical building, room, shelf, box, and folder coordinates.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Unifies 14 branch stations nationwide under centralized oversight with strict regional data segregation.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114800" cy="1097280"/>
          </a:xfrm>
          <a:prstGeom prst="roundRect">
            <a:avLst/>
          </a:prstGeom>
          <a:solidFill>
            <a:srgbClr val="E0ED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1054A8"/>
                </a:solidFill>
              </a:defRPr>
            </a:pPr>
            <a:r>
              <a:t>EXECUTIVE VALUE &amp; ROI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Reduces document retrieval time from hours to under 3 seconds while eliminating paper dossier misplacement.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34440"/>
            <a:ext cx="64922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25880"/>
            <a:ext cx="6309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54A8"/>
                </a:solidFill>
              </a:defRPr>
            </a:pPr>
            <a:r>
              <a:t>SYSTEM SECURITY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Tiered Authentication &amp;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293B"/>
                </a:solidFill>
              </a:defRPr>
            </a:pPr>
            <a:r>
              <a:t>Enterprise Security Gate with 15-Minute Session Expiry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Role-Based Access Control (RBAC) isolating Admin, Supervisor, Officer, Auditor, and Viewer tiers.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Automatic account lock protection against unauthorized brute-force credential attacks.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Session expiration strictly enforced after 15 minutes of inactivity to protect sensitive government records.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Individual user accountability with encrypted authentication and password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114800" cy="1097280"/>
          </a:xfrm>
          <a:prstGeom prst="roundRect">
            <a:avLst/>
          </a:prstGeom>
          <a:solidFill>
            <a:srgbClr val="E0ED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1054A8"/>
                </a:solidFill>
              </a:defRPr>
            </a:pPr>
            <a:r>
              <a:t>EXECUTIVE VALUE &amp; ROI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Complies with national government data security standards and prevents unauthorized identity record tampering.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34440"/>
            <a:ext cx="64922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25880"/>
            <a:ext cx="6309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54A8"/>
                </a:solidFill>
              </a:defRPr>
            </a:pPr>
            <a:r>
              <a:t>OPERATIONAL DASHBOARD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Real-Time National Dossier Metrics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293B"/>
                </a:solidFill>
              </a:defRPr>
            </a:pPr>
            <a:r>
              <a:t>Instant Strategic Visibility Across All Divisions &amp; Stations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Real-time counter displaying total indexed files across all categories (Visas, EOID, Residence IDs, ETD).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Branch filtering enabling leadership to inspect nationwide statistics or drill into specific regional stations.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Quick access shortcuts for instant document registration and emergency lookups.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Visual trend tracking showing daily intake velocity and pending archive backlogs.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114800" cy="1097280"/>
          </a:xfrm>
          <a:prstGeom prst="roundRect">
            <a:avLst/>
          </a:prstGeom>
          <a:solidFill>
            <a:srgbClr val="E0ED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1054A8"/>
                </a:solidFill>
              </a:defRPr>
            </a:pPr>
            <a:r>
              <a:t>EXECUTIVE VALUE &amp; ROI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Provides executive leadership with real-time operational transparency to optimize resource allocation across branches.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34440"/>
            <a:ext cx="64922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25880"/>
            <a:ext cx="6309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54A8"/>
                </a:solidFill>
              </a:defRPr>
            </a:pPr>
            <a:r>
              <a:t>CORE DIVISION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Visa Dossiers &amp; Immigration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293B"/>
                </a:solidFill>
              </a:defRPr>
            </a:pPr>
            <a:r>
              <a:t>End-to-End Tracking of Foreign National Records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Centralized ledger for all visa classifications (Work, Business, Student, Tourist, Diplomatic, Investment).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Comprehensive metadata capture: Passport Number, Full Name, Nationality, Sex, and Expiry Dates.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Complete digital attachment archive preserving scanned visa seals, permits, and correspondence.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Color-coded status indicators (Active, Pending, Expired, Cancelled) for rapid officer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114800" cy="1097280"/>
          </a:xfrm>
          <a:prstGeom prst="roundRect">
            <a:avLst/>
          </a:prstGeom>
          <a:solidFill>
            <a:srgbClr val="E0ED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1054A8"/>
                </a:solidFill>
              </a:defRPr>
            </a:pPr>
            <a:r>
              <a:t>EXECUTIVE VALUE &amp; ROI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Ensures total legal compliance and seamless verification of legal residency and visa permits nationwide.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34440"/>
            <a:ext cx="64922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visa_doss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25880"/>
            <a:ext cx="6309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54A8"/>
                </a:solidFill>
              </a:defRPr>
            </a:pPr>
            <a:r>
              <a:t>AUTOMATION &amp; AI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Automated Bulk Ingestion &amp; AI/OCR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293B"/>
                </a:solidFill>
              </a:defRPr>
            </a:pPr>
            <a:r>
              <a:t>Accelerating Dossier Ingestion by 800% Through OCR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High-accuracy OCR parser extracts Machine Readable Zones (MRZ Lines 1 &amp; 2) and document headers.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Intelligently filters out background guilloche security watermarks on USA, Canadian, and Ethiopian passports.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Auto-populates Given Name, Surname, Passport Number, Nationality, and Sex into queue records.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Batch commit ('Ingest &amp; Index All') validates and stores dozens of scanned files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114800" cy="1097280"/>
          </a:xfrm>
          <a:prstGeom prst="roundRect">
            <a:avLst/>
          </a:prstGeom>
          <a:solidFill>
            <a:srgbClr val="E0ED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1054A8"/>
                </a:solidFill>
              </a:defRPr>
            </a:pPr>
            <a:r>
              <a:t>EXECUTIVE VALUE &amp; ROI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Transforms days of manual data typing into minutes of automated optical recognition with zero typing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34440"/>
            <a:ext cx="64922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2e_step1_queued_rec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25880"/>
            <a:ext cx="6309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54A8"/>
                </a:solidFill>
              </a:defRPr>
            </a:pPr>
            <a:r>
              <a:t>PHYSICAL ARCHIVE CONTROL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5-Tier Physical Warehouse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293B"/>
                </a:solidFill>
              </a:defRPr>
            </a:pPr>
            <a:r>
              <a:t>Zero-Loss Guarantee for Physical Paper Dossiers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Every digital file record links to exact physical warehouse coordinates: Building, Room, Shelf, Box, and Folder.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Automated File Reference indexing (e.g. VISA-B1-01) for physical box labeling.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Allows warehouse clerks to locate physical dossiers in shelves within 60 seconds of an inquiry.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Preserves physical integrity and chain of custody during historical archive relocation or audits.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114800" cy="1097280"/>
          </a:xfrm>
          <a:prstGeom prst="roundRect">
            <a:avLst/>
          </a:prstGeom>
          <a:solidFill>
            <a:srgbClr val="E0ED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1054A8"/>
                </a:solidFill>
              </a:defRPr>
            </a:pPr>
            <a:r>
              <a:t>EXECUTIVE VALUE &amp; ROI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Bridges the critical gap between digital database entries and physical warehouse storage, eliminating lost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54A8"/>
                </a:solidFill>
              </a:defRPr>
            </a:pPr>
            <a:r>
              <a:t>CITIZEN &amp; DIASPORA SERVICES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Ethiopian Origin ID (Yellow Card)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293B"/>
                </a:solidFill>
              </a:defRPr>
            </a:pPr>
            <a:r>
              <a:t>Dedicated Management for Diaspora &amp; Residence Permits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Separate specialized workflows for Normal Ethiopian Origin ID and Under-Age Guardian-linked records.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Integrated tracking for Residence ID Cards and Residence ID Cancellations with service justification.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Emergency Travel Documents (ETD) and Eritrean ID dossiers managed under unified search standards.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Protects sensitive diaspora records while enabling rapid consular verification and renewal processing.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114800" cy="1097280"/>
          </a:xfrm>
          <a:prstGeom prst="roundRect">
            <a:avLst/>
          </a:prstGeom>
          <a:solidFill>
            <a:srgbClr val="E0ED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1054A8"/>
                </a:solidFill>
              </a:defRPr>
            </a:pPr>
            <a:r>
              <a:t>EXECUTIVE VALUE &amp; ROI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Streamlines consular and diaspora services while maintaining rigorous national security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34440"/>
            <a:ext cx="64922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25880"/>
            <a:ext cx="6309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54A8"/>
                </a:solidFill>
              </a:defRPr>
            </a:pPr>
            <a:r>
              <a:t>SEARCH &amp; RETRIEVAL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Enterprise Command Palette &amp; Instant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293B"/>
                </a:solidFill>
              </a:defRPr>
            </a:pPr>
            <a:r>
              <a:t>Sub-Second Dossier Lookups Across Millions of Records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Accessible from any screen via 'Ctrl + K' shortcut for lightning-fast officer navigation.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Global multi-parameter search querying Applicant Name, Passport Number, File ID, or Box Reference.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Immediate keyboard navigation between modules, divisions, user management, and system reports.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Reduces front-desk citizen wait times during in-person inquiries and border verification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114800" cy="1097280"/>
          </a:xfrm>
          <a:prstGeom prst="roundRect">
            <a:avLst/>
          </a:prstGeom>
          <a:solidFill>
            <a:srgbClr val="E0ED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1054A8"/>
                </a:solidFill>
              </a:defRPr>
            </a:pPr>
            <a:r>
              <a:t>EXECUTIVE VALUE &amp; ROI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Empowers frontline border and desk officers with instantaneous retrieval, boosting customer satisfaction.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34440"/>
            <a:ext cx="64922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command_pal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25880"/>
            <a:ext cx="6309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54A8"/>
                </a:solidFill>
              </a:defRPr>
            </a:pPr>
            <a:r>
              <a:t>STRATEGIC ANALYTICS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Executive Reports &amp; National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293B"/>
                </a:solidFill>
              </a:defRPr>
            </a:pPr>
            <a:r>
              <a:t>Data-Driven Decision Making &amp; Trend Forecasting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Interactive charts analyzing visa issuance distributions, nationality breakdowns, and sex demographics.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Branch workload comparisons revealing operational bottlenecks and intake surges.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One-click data export to Excel (XLSX), CSV, and PDF for executive board presentations and ministry reports.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Configurable date range filters for annual, quarterly, or monthly immigration performance auditing.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114800" cy="1097280"/>
          </a:xfrm>
          <a:prstGeom prst="roundRect">
            <a:avLst/>
          </a:prstGeom>
          <a:solidFill>
            <a:srgbClr val="E0ED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1054A8"/>
                </a:solidFill>
              </a:defRPr>
            </a:pPr>
            <a:r>
              <a:t>EXECUTIVE VALUE &amp; ROI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Equips executive directors with real-time analytics to make proactive policy and staffing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34440"/>
            <a:ext cx="64922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reports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25880"/>
            <a:ext cx="6309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54A8"/>
                </a:solidFill>
              </a:defRPr>
            </a:pPr>
            <a:r>
              <a:t>GOVERNANCE &amp; FORENSICS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Tamper-Proof Audit Trail &amp; Regulatory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293B"/>
                </a:solidFill>
              </a:defRPr>
            </a:pPr>
            <a:r>
              <a:t>Complete Forensic Accountability for Every System Interaction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Immutable audit log capturing user identity, precise timestamp, IP address, and target record ID.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Detailed before-and-after change diffs recorded whenever a document is modified or updated.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Specialized 'AUDITOR' role with read-only inspection access to ensure independent compliance checks.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Total transparency discouraging insider data manipulation and safeguarding legal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114800" cy="1097280"/>
          </a:xfrm>
          <a:prstGeom prst="roundRect">
            <a:avLst/>
          </a:prstGeom>
          <a:solidFill>
            <a:srgbClr val="E0ED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1054A8"/>
                </a:solidFill>
              </a:defRPr>
            </a:pPr>
            <a:r>
              <a:t>EXECUTIVE VALUE &amp; ROI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Guarantees 100% compliance with national archival laws, anti-corruption mandates, and international audit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34440"/>
            <a:ext cx="64922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audit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25880"/>
            <a:ext cx="6309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54A8"/>
                </a:solidFill>
              </a:defRPr>
            </a:pPr>
            <a:r>
              <a:t>DATA PROTECTION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Enterprise Disaster Recovery &amp; Recycle Bin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293B"/>
                </a:solidFill>
              </a:defRPr>
            </a:pPr>
            <a:r>
              <a:t>Two-Tier Soft Deletion Preventing Accidental Data Loss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Restricted delete permissions: records are moved to an administrative Recycle Bin rather than permanently wiped.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One-click instant restoration preserves original file metadata, archive coordinates, and attachments.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Only Super Administrators possess purge authority, preventing rogue deletions by rogue or compromised accounts.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PostgreSQL backend automated backups ensure zero business interruption and rapid disaster recovery.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114800" cy="1097280"/>
          </a:xfrm>
          <a:prstGeom prst="roundRect">
            <a:avLst/>
          </a:prstGeom>
          <a:solidFill>
            <a:srgbClr val="E0ED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1054A8"/>
                </a:solidFill>
              </a:defRPr>
            </a:pPr>
            <a:r>
              <a:t>EXECUTIVE VALUE &amp; ROI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Eliminates the catastrophic business risk of accidental document deletion or malicious data destruction.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34440"/>
            <a:ext cx="64922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recycle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25880"/>
            <a:ext cx="6309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54A8"/>
                </a:solidFill>
              </a:defRPr>
            </a:pPr>
            <a:r>
              <a:t>SECURITY ADMINISTRATION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User Accounts &amp; Role-Based Clearance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293B"/>
                </a:solidFill>
              </a:defRPr>
            </a:pPr>
            <a:r>
              <a:t>Granular Security Governance Across 5 Defined User Tiers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ADMIN: Nationwide full control over system modules, user credentials, and security policies.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SUPERVISOR: Branch-level authority over intake, officer task delegation, and station reporting.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OFFICER: Operational intake, scanning, OCR validation, and physical shelf/box filing.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AUDITOR: Read-only investigative access across records and tamper-proof audit trails.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VIEWER: Front-desk read-only inquiry access for physical dossier retrieval and applicant queries.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114800" cy="1097280"/>
          </a:xfrm>
          <a:prstGeom prst="roundRect">
            <a:avLst/>
          </a:prstGeom>
          <a:solidFill>
            <a:srgbClr val="E0ED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1054A8"/>
                </a:solidFill>
              </a:defRPr>
            </a:pPr>
            <a:r>
              <a:t>EXECUTIVE VALUE &amp; ROI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Enforces the Principle of Least Privilege (PoLP), ensuring staff only access files required for their official duties.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34440"/>
            <a:ext cx="64922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user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25880"/>
            <a:ext cx="6309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54A8"/>
                </a:solidFill>
              </a:defRPr>
            </a:pPr>
            <a:r>
              <a:t>SYSTEM EXTENSIBILITY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Dynamic Custom Module Builder &amp; Station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293B"/>
                </a:solidFill>
              </a:defRPr>
            </a:pPr>
            <a:r>
              <a:t>Future-Proof Architecture Adapting to Evolving Legislation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Allows administrators to create new document categories and divisions on-the-fly without developer code changes.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Configurable document classifications, custom metadata fields, unique prefixes, and icons.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Dynamic station management: add, configure, or activate regional branch stations across Ethiopia.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Seamless database schema migration automatically extends backend tables upon module activation.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114800" cy="1097280"/>
          </a:xfrm>
          <a:prstGeom prst="roundRect">
            <a:avLst/>
          </a:prstGeom>
          <a:solidFill>
            <a:srgbClr val="E0ED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1054A8"/>
                </a:solidFill>
              </a:defRPr>
            </a:pPr>
            <a:r>
              <a:t>EXECUTIVE VALUE &amp; ROI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Guarantees long-term sustainability and eliminates expensive software vendor change orders as regulations evolve.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34440"/>
            <a:ext cx="64922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25880"/>
            <a:ext cx="6309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STRATEGIC IMPACT &amp; NEXT STEPS</a:t>
            </a:r>
          </a:p>
          <a:p>
            <a:pPr>
              <a:spcAft>
                <a:spcPts val="2400"/>
              </a:spcAft>
              <a:defRPr sz="2800" b="1">
                <a:solidFill>
                  <a:srgbClr val="FFFFFF"/>
                </a:solidFill>
              </a:defRPr>
            </a:pPr>
            <a:r>
              <a:t>Business Case &amp; Request for Formal Approval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3474720"/>
          </a:xfrm>
          <a:prstGeom prst="roundRect">
            <a:avLst/>
          </a:prstGeom>
          <a:solidFill>
            <a:srgbClr val="133056"/>
          </a:solidFill>
          <a:ln>
            <a:solidFill>
              <a:srgbClr val="1E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 b="1">
                <a:solidFill>
                  <a:srgbClr val="10B981"/>
                </a:solidFill>
              </a:defRPr>
            </a:pPr>
            <a:r>
              <a:t>⚡ OPERATIONAL IMPACT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85% Reduction in physical dossier retrieval times (from hours to seconds).</a:t>
            </a:r>
            <a:br/>
            <a:br/>
            <a:r>
              <a:t>• 800% Faster document ingestion with AI-powered OCR MRZ scanning.</a:t>
            </a:r>
            <a:br/>
            <a:br/>
            <a:r>
              <a:t>• Zero misplaced paper files through 5-tier warehouse shelf &amp; box coordinates.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286000"/>
            <a:ext cx="3200400" cy="3474720"/>
          </a:xfrm>
          <a:prstGeom prst="roundRect">
            <a:avLst/>
          </a:prstGeom>
          <a:solidFill>
            <a:srgbClr val="133056"/>
          </a:solidFill>
          <a:ln>
            <a:solidFill>
              <a:srgbClr val="1E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 b="1">
                <a:solidFill>
                  <a:srgbClr val="60A5FA"/>
                </a:solidFill>
              </a:defRPr>
            </a:pPr>
            <a:r>
              <a:t>🛡️ RISK &amp; COMPLIANCE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100% Immutable audit trail tracking every modification with IP and timestamps.</a:t>
            </a:r>
            <a:br/>
            <a:br/>
            <a:r>
              <a:t>• Multi-branch regional data isolation protecting sensitive citizen data.</a:t>
            </a:r>
            <a:br/>
            <a:br/>
            <a:r>
              <a:t>• Secure Recycle Bin preventing accidental or unauthorized permanent data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200400" cy="3474720"/>
          </a:xfrm>
          <a:prstGeom prst="roundRect">
            <a:avLst/>
          </a:prstGeom>
          <a:solidFill>
            <a:srgbClr val="133056"/>
          </a:solidFill>
          <a:ln>
            <a:solidFill>
              <a:srgbClr val="1E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 b="1">
                <a:solidFill>
                  <a:srgbClr val="FBBF24"/>
                </a:solidFill>
              </a:defRPr>
            </a:pPr>
            <a:r>
              <a:t>🎯 APPROVAL REQUEST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1. Senior Management Sign-Off on Phase 1 Deployment.</a:t>
            </a:r>
            <a:br/>
            <a:br/>
            <a:r>
              <a:t>2. Staff Onboarding &amp; Branch Training (HQ &amp; Bole Airport Pilot).</a:t>
            </a:r>
            <a:br/>
            <a:br/>
            <a:r>
              <a:t>3. Phased Regional Rollout to 12 Branch Stations nationwide.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